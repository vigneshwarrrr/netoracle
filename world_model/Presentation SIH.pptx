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96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6914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2527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0CDBFA-6C36-4DEE-955F-35EF94240790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11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ds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2880360" cy="822960"/>
          </a:xfrm>
          <a:prstGeom prst="rect">
            <a:avLst/>
          </a:prstGeom>
        </p:spPr>
      </p:pic>
      <p:pic>
        <p:nvPicPr>
          <p:cNvPr id="3" name="Image 1" descr="/home/claude/assets/sih_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292608"/>
            <a:ext cx="3063240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105156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PAGE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12700">
            <a:solidFill>
              <a:srgbClr val="D8DCDE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94360" y="187452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07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 — SIH26153</a:t>
            </a:r>
            <a:endParaRPr lang="en-US" sz="1550" dirty="0"/>
          </a:p>
        </p:txBody>
      </p:sp>
      <p:sp>
        <p:nvSpPr>
          <p:cNvPr id="7" name="Text 3"/>
          <p:cNvSpPr txBox="1"/>
          <p:nvPr/>
        </p:nvSpPr>
        <p:spPr>
          <a:xfrm>
            <a:off x="594360" y="235000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07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 — AI/ML-Based Network Attack Forecasting</a:t>
            </a:r>
            <a:endParaRPr lang="en-US" sz="15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8254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07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— Blockchain &amp; Cybersecurity</a:t>
            </a:r>
            <a:endParaRPr lang="en-US" sz="15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330098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07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 — Software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377647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0" b="1" dirty="0">
                <a:solidFill>
                  <a:srgbClr val="E07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50" b="1" dirty="0">
                <a:solidFill>
                  <a:srgbClr val="55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— SIH2026-214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425196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0" b="1" dirty="0">
                <a:solidFill>
                  <a:srgbClr val="E07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50" b="1" dirty="0">
                <a:solidFill>
                  <a:srgbClr val="55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— BALLERS 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594360" y="472744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07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50" b="1" dirty="0">
                <a:solidFill>
                  <a:srgbClr val="55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Name — </a:t>
            </a:r>
            <a:r>
              <a:rPr lang="en-US" sz="1550" b="1" i="1" dirty="0">
                <a:solidFill>
                  <a:srgbClr val="8A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AKSHAY SENTHIL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594360" y="520293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07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50" b="1" dirty="0">
                <a:solidFill>
                  <a:srgbClr val="55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USN Number — </a:t>
            </a:r>
            <a:r>
              <a:rPr lang="en-US" sz="1550" b="1" i="1" dirty="0">
                <a:solidFill>
                  <a:srgbClr val="8A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ENG24RA0001</a:t>
            </a:r>
            <a:endParaRPr lang="en-US" sz="1550" dirty="0"/>
          </a:p>
        </p:txBody>
      </p:sp>
      <p:pic>
        <p:nvPicPr>
          <p:cNvPr id="14" name="Image 2" descr="/home/claude/assets/brain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1783080"/>
            <a:ext cx="3383280" cy="36118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Engineering, Dayananda Sagar University, Bengaluru – 562112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143000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563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/>
              <a:t>BALLERS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600200" y="18288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Proactive Network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Forecasting</a:t>
            </a:r>
            <a:endParaRPr lang="en-US" sz="2500" dirty="0"/>
          </a:p>
        </p:txBody>
      </p:sp>
      <p:pic>
        <p:nvPicPr>
          <p:cNvPr id="5" name="Image 0" descr="/home/claude/assets/sih_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56032"/>
            <a:ext cx="2331720" cy="4663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 – SIH (Internal Hackathon)  |  2026 - Dayananda Sagar University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E07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34582" y="1556119"/>
            <a:ext cx="3490075" cy="2101481"/>
          </a:xfrm>
          <a:prstGeom prst="roundRect">
            <a:avLst>
              <a:gd name="adj" fmla="val 5217"/>
            </a:avLst>
          </a:prstGeom>
          <a:solidFill>
            <a:srgbClr val="FDF1E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44894" y="2133485"/>
            <a:ext cx="3255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dirty="0"/>
              <a:t>🔴 </a:t>
            </a:r>
            <a:r>
              <a:rPr lang="en-IN" sz="1200" b="1" dirty="0"/>
              <a:t>Reactive Detection</a:t>
            </a:r>
            <a:br>
              <a:rPr lang="en-IN" sz="1200" dirty="0"/>
            </a:br>
            <a:r>
              <a:rPr lang="en-IN" sz="1200" dirty="0"/>
              <a:t>Traditional security systems primarily alert when suspicious activity is already occurring.</a:t>
            </a:r>
          </a:p>
          <a:p>
            <a:r>
              <a:rPr lang="en-IN" sz="1200" dirty="0"/>
              <a:t>🔴 </a:t>
            </a:r>
            <a:r>
              <a:rPr lang="en-IN" sz="1200" b="1" dirty="0"/>
              <a:t>Alert Overload</a:t>
            </a:r>
            <a:br>
              <a:rPr lang="en-IN" sz="1200" dirty="0"/>
            </a:br>
            <a:r>
              <a:rPr lang="en-IN" sz="1200" dirty="0"/>
              <a:t>Large volumes of alerts make it difficult for analysts to identify the most critical threats.</a:t>
            </a:r>
          </a:p>
          <a:p>
            <a:r>
              <a:rPr lang="en-IN" sz="1200" dirty="0"/>
              <a:t>🔴 </a:t>
            </a:r>
            <a:r>
              <a:rPr lang="en-IN" sz="1200" b="1" dirty="0"/>
              <a:t>Missing Temporal Context</a:t>
            </a:r>
            <a:br>
              <a:rPr lang="en-IN" sz="1200" dirty="0"/>
            </a:br>
            <a:r>
              <a:rPr lang="en-IN" sz="1200" dirty="0"/>
              <a:t>Individual events may not reveal how an attack is evolving toward its next stage.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295231" y="12481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2E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071065" y="1645920"/>
            <a:ext cx="3556326" cy="1993392"/>
          </a:xfrm>
          <a:prstGeom prst="roundRect">
            <a:avLst>
              <a:gd name="adj" fmla="val 3871"/>
            </a:avLst>
          </a:prstGeom>
          <a:solidFill>
            <a:srgbClr val="EAF4E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433891" y="2019271"/>
            <a:ext cx="3255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dirty="0"/>
              <a:t>NETWORK TRAFFIC + SECURITY LOGS</a:t>
            </a:r>
          </a:p>
          <a:p>
            <a:r>
              <a:rPr lang="en-IN" sz="1200" dirty="0"/>
              <a:t>↓</a:t>
            </a:r>
          </a:p>
          <a:p>
            <a:r>
              <a:rPr lang="en-IN" sz="1200" dirty="0"/>
              <a:t>TEMPORAL BEHAVIOUR ANALYSIS</a:t>
            </a:r>
          </a:p>
          <a:p>
            <a:r>
              <a:rPr lang="en-IN" sz="1200" dirty="0"/>
              <a:t>↓</a:t>
            </a:r>
          </a:p>
          <a:p>
            <a:r>
              <a:rPr lang="en-IN" sz="1200" dirty="0"/>
              <a:t>AI/ML FORECASTING</a:t>
            </a:r>
          </a:p>
          <a:p>
            <a:r>
              <a:rPr lang="en-IN" sz="1200" dirty="0"/>
              <a:t>↓</a:t>
            </a:r>
          </a:p>
          <a:p>
            <a:r>
              <a:rPr lang="en-IN" sz="1200" dirty="0"/>
              <a:t>NEXT ATTACK STAGE</a:t>
            </a:r>
          </a:p>
          <a:p>
            <a:r>
              <a:rPr lang="en-IN" sz="1200" dirty="0"/>
              <a:t>↓</a:t>
            </a:r>
          </a:p>
          <a:p>
            <a:r>
              <a:rPr lang="en-IN" sz="1200" dirty="0"/>
              <a:t>EARLY WARNING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40897" y="4792577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 — From Reactive to Predictive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365760" y="5212080"/>
            <a:ext cx="1207008" cy="384048"/>
          </a:xfrm>
          <a:prstGeom prst="roundRect">
            <a:avLst>
              <a:gd name="adj" fmla="val 21429"/>
            </a:avLst>
          </a:prstGeom>
          <a:solidFill>
            <a:srgbClr val="B9BEC2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338328" y="521208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1627632" y="5266944"/>
            <a:ext cx="292608" cy="274320"/>
          </a:xfrm>
          <a:prstGeom prst="rightArrow">
            <a:avLst/>
          </a:prstGeom>
          <a:solidFill>
            <a:srgbClr val="B9BEC2"/>
          </a:solidFill>
          <a:ln/>
        </p:spPr>
      </p:sp>
      <p:sp>
        <p:nvSpPr>
          <p:cNvPr id="37" name="Shape 34"/>
          <p:cNvSpPr/>
          <p:nvPr/>
        </p:nvSpPr>
        <p:spPr>
          <a:xfrm>
            <a:off x="1975104" y="5212080"/>
            <a:ext cx="1207008" cy="384048"/>
          </a:xfrm>
          <a:prstGeom prst="roundRect">
            <a:avLst>
              <a:gd name="adj" fmla="val 21429"/>
            </a:avLst>
          </a:prstGeom>
          <a:solidFill>
            <a:srgbClr val="B9BEC2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1975104" y="521208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3236976" y="5266944"/>
            <a:ext cx="292608" cy="274320"/>
          </a:xfrm>
          <a:prstGeom prst="rightArrow">
            <a:avLst/>
          </a:prstGeom>
          <a:solidFill>
            <a:srgbClr val="B9BEC2"/>
          </a:solidFill>
          <a:ln/>
        </p:spPr>
      </p:sp>
      <p:sp>
        <p:nvSpPr>
          <p:cNvPr id="40" name="Shape 37"/>
          <p:cNvSpPr/>
          <p:nvPr/>
        </p:nvSpPr>
        <p:spPr>
          <a:xfrm>
            <a:off x="3584448" y="5212080"/>
            <a:ext cx="1207008" cy="384048"/>
          </a:xfrm>
          <a:prstGeom prst="roundRect">
            <a:avLst>
              <a:gd name="adj" fmla="val 21429"/>
            </a:avLst>
          </a:prstGeom>
          <a:solidFill>
            <a:srgbClr val="B9BEC2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3584448" y="521208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4956048" y="52120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5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5897880" y="5212080"/>
            <a:ext cx="1207008" cy="384048"/>
          </a:xfrm>
          <a:prstGeom prst="roundRect">
            <a:avLst>
              <a:gd name="adj" fmla="val 21429"/>
            </a:avLst>
          </a:prstGeom>
          <a:solidFill>
            <a:srgbClr val="E07B33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5897880" y="521208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7159752" y="5266944"/>
            <a:ext cx="292608" cy="274320"/>
          </a:xfrm>
          <a:prstGeom prst="rightArrow">
            <a:avLst/>
          </a:prstGeom>
          <a:solidFill>
            <a:srgbClr val="55636D"/>
          </a:solidFill>
          <a:ln/>
        </p:spPr>
      </p:sp>
      <p:sp>
        <p:nvSpPr>
          <p:cNvPr id="46" name="Shape 43"/>
          <p:cNvSpPr/>
          <p:nvPr/>
        </p:nvSpPr>
        <p:spPr>
          <a:xfrm>
            <a:off x="7507224" y="5212080"/>
            <a:ext cx="1207008" cy="384048"/>
          </a:xfrm>
          <a:prstGeom prst="roundRect">
            <a:avLst>
              <a:gd name="adj" fmla="val 21429"/>
            </a:avLst>
          </a:prstGeom>
          <a:solidFill>
            <a:srgbClr val="2E8B4E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7507224" y="521208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8769096" y="5266944"/>
            <a:ext cx="292608" cy="274320"/>
          </a:xfrm>
          <a:prstGeom prst="rightArrow">
            <a:avLst/>
          </a:prstGeom>
          <a:solidFill>
            <a:srgbClr val="55636D"/>
          </a:solidFill>
          <a:ln/>
        </p:spPr>
      </p:sp>
      <p:sp>
        <p:nvSpPr>
          <p:cNvPr id="49" name="Shape 46"/>
          <p:cNvSpPr/>
          <p:nvPr/>
        </p:nvSpPr>
        <p:spPr>
          <a:xfrm>
            <a:off x="9116568" y="5212080"/>
            <a:ext cx="1207008" cy="384048"/>
          </a:xfrm>
          <a:prstGeom prst="roundRect">
            <a:avLst>
              <a:gd name="adj" fmla="val 21429"/>
            </a:avLst>
          </a:prstGeom>
          <a:solidFill>
            <a:srgbClr val="1F2A33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9116568" y="521208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</a:t>
            </a:r>
            <a:endParaRPr lang="en-US" sz="1050" dirty="0"/>
          </a:p>
        </p:txBody>
      </p:sp>
      <p:sp>
        <p:nvSpPr>
          <p:cNvPr id="51" name="Text 48"/>
          <p:cNvSpPr txBox="1"/>
          <p:nvPr/>
        </p:nvSpPr>
        <p:spPr>
          <a:xfrm>
            <a:off x="365760" y="57607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5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only identifying what is happening now, the system predicts what may happen next — giving defenders time to intervene before the attack escalates.</a:t>
            </a:r>
            <a:endParaRPr lang="en-US" sz="115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80A680-5A11-BB70-6052-7649F4CF0AF3}"/>
              </a:ext>
            </a:extLst>
          </p:cNvPr>
          <p:cNvSpPr txBox="1"/>
          <p:nvPr/>
        </p:nvSpPr>
        <p:spPr>
          <a:xfrm>
            <a:off x="8278655" y="1261872"/>
            <a:ext cx="313303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500" b="1" u="sng" dirty="0">
                <a:solidFill>
                  <a:schemeClr val="accent1">
                    <a:lumMod val="75000"/>
                  </a:schemeClr>
                </a:solidFill>
              </a:rPr>
              <a:t>BALLERS FORECASTS</a:t>
            </a:r>
          </a:p>
          <a:p>
            <a:endParaRPr lang="en-IN" sz="15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500" b="1" dirty="0">
                <a:solidFill>
                  <a:schemeClr val="accent1">
                    <a:lumMod val="75000"/>
                  </a:schemeClr>
                </a:solidFill>
              </a:rPr>
              <a:t>01 — ATTACK RISK</a:t>
            </a:r>
            <a:br>
              <a:rPr lang="en-IN" sz="15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sz="1500" dirty="0">
                <a:solidFill>
                  <a:schemeClr val="accent1">
                    <a:lumMod val="75000"/>
                  </a:schemeClr>
                </a:solidFill>
              </a:rPr>
              <a:t>Probability of attack escalation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500" b="1" dirty="0">
                <a:solidFill>
                  <a:schemeClr val="accent1">
                    <a:lumMod val="75000"/>
                  </a:schemeClr>
                </a:solidFill>
              </a:rPr>
              <a:t>02 — NEXT STAGE</a:t>
            </a:r>
            <a:br>
              <a:rPr lang="en-IN" sz="15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sz="1500" dirty="0">
                <a:solidFill>
                  <a:schemeClr val="accent1">
                    <a:lumMod val="75000"/>
                  </a:schemeClr>
                </a:solidFill>
              </a:rPr>
              <a:t>Likely next attack behaviour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500" b="1" dirty="0">
                <a:solidFill>
                  <a:schemeClr val="accent1">
                    <a:lumMod val="75000"/>
                  </a:schemeClr>
                </a:solidFill>
              </a:rPr>
              <a:t>03 — ATTACK PATH</a:t>
            </a:r>
            <a:br>
              <a:rPr lang="en-IN" sz="15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sz="1500" dirty="0">
                <a:solidFill>
                  <a:schemeClr val="accent1">
                    <a:lumMod val="75000"/>
                  </a:schemeClr>
                </a:solidFill>
              </a:rPr>
              <a:t>Possible future progression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500" b="1" dirty="0">
                <a:solidFill>
                  <a:schemeClr val="accent1">
                    <a:lumMod val="75000"/>
                  </a:schemeClr>
                </a:solidFill>
              </a:rPr>
              <a:t>04 — EXPLANATION</a:t>
            </a:r>
            <a:br>
              <a:rPr lang="en-IN" sz="15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sz="1500" dirty="0">
                <a:solidFill>
                  <a:schemeClr val="accent1">
                    <a:lumMod val="75000"/>
                  </a:schemeClr>
                </a:solidFill>
              </a:rPr>
              <a:t>Why the model made the forecast</a:t>
            </a:r>
          </a:p>
          <a:p>
            <a:endParaRPr lang="en-IN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62F682FE-302C-CC3F-1D0C-D5CDD7141CCE}"/>
              </a:ext>
            </a:extLst>
          </p:cNvPr>
          <p:cNvSpPr/>
          <p:nvPr/>
        </p:nvSpPr>
        <p:spPr>
          <a:xfrm>
            <a:off x="8043672" y="1595541"/>
            <a:ext cx="3556326" cy="2191110"/>
          </a:xfrm>
          <a:prstGeom prst="roundRect">
            <a:avLst/>
          </a:prstGeom>
          <a:solidFill>
            <a:schemeClr val="accent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7D863F-B815-7364-9CAB-41E1465C5939}"/>
              </a:ext>
            </a:extLst>
          </p:cNvPr>
          <p:cNvSpPr txBox="1"/>
          <p:nvPr/>
        </p:nvSpPr>
        <p:spPr>
          <a:xfrm>
            <a:off x="339278" y="3979193"/>
            <a:ext cx="11045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Traditional IDS:</a:t>
            </a:r>
            <a:r>
              <a:rPr lang="en-IN" dirty="0"/>
              <a:t> Detect → Alert → Respond                                </a:t>
            </a:r>
            <a:r>
              <a:rPr lang="en-IN" b="1" dirty="0"/>
              <a:t>BALLERS:</a:t>
            </a:r>
            <a:r>
              <a:rPr lang="en-IN" dirty="0"/>
              <a:t> Detect → Analyse → Forecast → Warn</a:t>
            </a:r>
          </a:p>
        </p:txBody>
      </p:sp>
      <p:sp>
        <p:nvSpPr>
          <p:cNvPr id="55" name="Rectangle: Diagonal Corners Rounded 54">
            <a:extLst>
              <a:ext uri="{FF2B5EF4-FFF2-40B4-BE49-F238E27FC236}">
                <a16:creationId xmlns:a16="http://schemas.microsoft.com/office/drawing/2014/main" id="{99BDFB3F-4361-7FF2-3797-DEC45D735EB9}"/>
              </a:ext>
            </a:extLst>
          </p:cNvPr>
          <p:cNvSpPr/>
          <p:nvPr/>
        </p:nvSpPr>
        <p:spPr>
          <a:xfrm>
            <a:off x="234582" y="3856008"/>
            <a:ext cx="4492693" cy="635249"/>
          </a:xfrm>
          <a:prstGeom prst="round2DiagRect">
            <a:avLst/>
          </a:prstGeom>
          <a:solidFill>
            <a:schemeClr val="accent4">
              <a:lumMod val="40000"/>
              <a:lumOff val="6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: Diagonal Corners Rounded 55">
            <a:extLst>
              <a:ext uri="{FF2B5EF4-FFF2-40B4-BE49-F238E27FC236}">
                <a16:creationId xmlns:a16="http://schemas.microsoft.com/office/drawing/2014/main" id="{1AC03406-8110-F389-1232-AD0EBED9ACCE}"/>
              </a:ext>
            </a:extLst>
          </p:cNvPr>
          <p:cNvSpPr/>
          <p:nvPr/>
        </p:nvSpPr>
        <p:spPr>
          <a:xfrm>
            <a:off x="5774522" y="3923171"/>
            <a:ext cx="5175849" cy="541343"/>
          </a:xfrm>
          <a:prstGeom prst="round2DiagRect">
            <a:avLst/>
          </a:prstGeom>
          <a:solidFill>
            <a:schemeClr val="accent6">
              <a:lumMod val="40000"/>
              <a:lumOff val="6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143000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563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/>
              <a:t>BALLERS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8288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500" dirty="0"/>
          </a:p>
        </p:txBody>
      </p:sp>
      <p:pic>
        <p:nvPicPr>
          <p:cNvPr id="5" name="Image 0" descr="/home/claude/assets/sih_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56032"/>
            <a:ext cx="2331720" cy="4663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 – SIH (Internal Hackathon)  |  2026 - Dayananda Sagar University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1417320"/>
            <a:ext cx="1956816" cy="1920240"/>
          </a:xfrm>
          <a:prstGeom prst="roundRect">
            <a:avLst>
              <a:gd name="adj" fmla="val 3333"/>
            </a:avLst>
          </a:prstGeom>
          <a:solidFill>
            <a:srgbClr val="E07B3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38912" y="15087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039112"/>
            <a:ext cx="177393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/ Flow Records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 &amp; Security Logs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CTI Datasets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340864" y="2258568"/>
            <a:ext cx="219456" cy="237744"/>
          </a:xfrm>
          <a:prstGeom prst="rightArrow">
            <a:avLst/>
          </a:prstGeom>
          <a:solidFill>
            <a:srgbClr val="55636D"/>
          </a:solidFill>
          <a:ln/>
        </p:spPr>
      </p:sp>
      <p:sp>
        <p:nvSpPr>
          <p:cNvPr id="12" name="Shape 9"/>
          <p:cNvSpPr/>
          <p:nvPr/>
        </p:nvSpPr>
        <p:spPr>
          <a:xfrm>
            <a:off x="2578608" y="1417320"/>
            <a:ext cx="1956816" cy="1920240"/>
          </a:xfrm>
          <a:prstGeom prst="roundRect">
            <a:avLst>
              <a:gd name="adj" fmla="val 3333"/>
            </a:avLst>
          </a:prstGeom>
          <a:solidFill>
            <a:srgbClr val="D98F3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51760" y="15087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670048" y="2039112"/>
            <a:ext cx="177393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&amp; Protocols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Packet/Flow Frequency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Flags, Timing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53712" y="2258568"/>
            <a:ext cx="219456" cy="237744"/>
          </a:xfrm>
          <a:prstGeom prst="rightArrow">
            <a:avLst/>
          </a:prstGeom>
          <a:solidFill>
            <a:srgbClr val="55636D"/>
          </a:solidFill>
          <a:ln/>
        </p:spPr>
      </p:sp>
      <p:sp>
        <p:nvSpPr>
          <p:cNvPr id="16" name="Shape 13"/>
          <p:cNvSpPr/>
          <p:nvPr/>
        </p:nvSpPr>
        <p:spPr>
          <a:xfrm>
            <a:off x="4791456" y="1417320"/>
            <a:ext cx="1956816" cy="1920240"/>
          </a:xfrm>
          <a:prstGeom prst="roundRect">
            <a:avLst>
              <a:gd name="adj" fmla="val 3333"/>
            </a:avLst>
          </a:prstGeom>
          <a:solidFill>
            <a:srgbClr val="2E8B4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64608" y="15087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State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882896" y="2039112"/>
            <a:ext cx="177393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time-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capturing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evolution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66560" y="2258568"/>
            <a:ext cx="219456" cy="237744"/>
          </a:xfrm>
          <a:prstGeom prst="rightArrow">
            <a:avLst/>
          </a:prstGeom>
          <a:solidFill>
            <a:srgbClr val="55636D"/>
          </a:solidFill>
          <a:ln/>
        </p:spPr>
      </p:sp>
      <p:sp>
        <p:nvSpPr>
          <p:cNvPr id="20" name="Shape 17"/>
          <p:cNvSpPr/>
          <p:nvPr/>
        </p:nvSpPr>
        <p:spPr>
          <a:xfrm>
            <a:off x="7004304" y="1417320"/>
            <a:ext cx="1956816" cy="1920240"/>
          </a:xfrm>
          <a:prstGeom prst="roundRect">
            <a:avLst>
              <a:gd name="adj" fmla="val 3333"/>
            </a:avLst>
          </a:prstGeom>
          <a:solidFill>
            <a:srgbClr val="2C7A9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077456" y="15087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095744" y="2039112"/>
            <a:ext cx="177393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RF / LogReg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Temporal: LSTM,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979408" y="2258568"/>
            <a:ext cx="219456" cy="237744"/>
          </a:xfrm>
          <a:prstGeom prst="rightArrow">
            <a:avLst/>
          </a:prstGeom>
          <a:solidFill>
            <a:srgbClr val="55636D"/>
          </a:solidFill>
          <a:ln/>
        </p:spPr>
      </p:sp>
      <p:sp>
        <p:nvSpPr>
          <p:cNvPr id="24" name="Shape 21"/>
          <p:cNvSpPr/>
          <p:nvPr/>
        </p:nvSpPr>
        <p:spPr>
          <a:xfrm>
            <a:off x="9217152" y="1417320"/>
            <a:ext cx="1956816" cy="1920240"/>
          </a:xfrm>
          <a:prstGeom prst="roundRect">
            <a:avLst>
              <a:gd name="adj" fmla="val 3333"/>
            </a:avLst>
          </a:prstGeom>
          <a:solidFill>
            <a:srgbClr val="1F2A33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290304" y="15087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9308592" y="2039112"/>
            <a:ext cx="177393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Risk Score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Attack Stage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Mapping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65760" y="365760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4F6F7"/>
          </a:solidFill>
          <a:ln w="9525">
            <a:solidFill>
              <a:srgbClr val="D8DCD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" y="36576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 </a:t>
            </a:r>
            <a:r>
              <a:rPr lang="en-US" sz="1150" dirty="0">
                <a:solidFill>
                  <a:srgbClr val="55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× Input feature attribution clarifies why each forecast was made.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6126480" y="363931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126480" y="3968496"/>
            <a:ext cx="868680" cy="365760"/>
          </a:xfrm>
          <a:prstGeom prst="roundRect">
            <a:avLst>
              <a:gd name="adj" fmla="val 22500"/>
            </a:avLst>
          </a:prstGeom>
          <a:solidFill>
            <a:srgbClr val="2E8B4E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126480" y="396849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104888" y="3968496"/>
            <a:ext cx="868680" cy="365760"/>
          </a:xfrm>
          <a:prstGeom prst="roundRect">
            <a:avLst>
              <a:gd name="adj" fmla="val 22500"/>
            </a:avLst>
          </a:prstGeom>
          <a:solidFill>
            <a:srgbClr val="2E8B4E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104888" y="396849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8083296" y="3968496"/>
            <a:ext cx="1280160" cy="365760"/>
          </a:xfrm>
          <a:prstGeom prst="roundRect">
            <a:avLst>
              <a:gd name="adj" fmla="val 22500"/>
            </a:avLst>
          </a:prstGeom>
          <a:solidFill>
            <a:srgbClr val="2E8B4E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083296" y="39684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9473184" y="3968496"/>
            <a:ext cx="937260" cy="365760"/>
          </a:xfrm>
          <a:prstGeom prst="roundRect">
            <a:avLst>
              <a:gd name="adj" fmla="val 22500"/>
            </a:avLst>
          </a:prstGeom>
          <a:solidFill>
            <a:srgbClr val="2E8B4E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9473184" y="3968496"/>
            <a:ext cx="937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10520172" y="3968496"/>
            <a:ext cx="731520" cy="365760"/>
          </a:xfrm>
          <a:prstGeom prst="roundRect">
            <a:avLst>
              <a:gd name="adj" fmla="val 22500"/>
            </a:avLst>
          </a:prstGeom>
          <a:solidFill>
            <a:srgbClr val="2E8B4E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10520172" y="39684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× Input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143000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563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/>
              <a:t>BALLERS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608015" y="18288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&amp; Viability</a:t>
            </a:r>
            <a:endParaRPr lang="en-US" sz="2500" dirty="0"/>
          </a:p>
        </p:txBody>
      </p:sp>
      <p:pic>
        <p:nvPicPr>
          <p:cNvPr id="5" name="Image 0" descr="/home/claude/assets/sih_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56032"/>
            <a:ext cx="2331720" cy="4663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 – SIH (Internal Hackathon)  |  2026 - Dayananda Sagar University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2E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Feasible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65760" y="1618488"/>
            <a:ext cx="310896" cy="310896"/>
          </a:xfrm>
          <a:prstGeom prst="ellipse">
            <a:avLst/>
          </a:prstGeom>
          <a:solidFill>
            <a:srgbClr val="2E8B4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6576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86384" y="1581912"/>
            <a:ext cx="4700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cybersecurity datasets available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65760" y="2093976"/>
            <a:ext cx="310896" cy="310896"/>
          </a:xfrm>
          <a:prstGeom prst="ellipse">
            <a:avLst/>
          </a:prstGeom>
          <a:solidFill>
            <a:srgbClr val="2E8B4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65760" y="2093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4199" y="2057400"/>
            <a:ext cx="4700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software-based prototype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2569464"/>
            <a:ext cx="310896" cy="310896"/>
          </a:xfrm>
          <a:prstGeom prst="ellipse">
            <a:avLst/>
          </a:prstGeom>
          <a:solidFill>
            <a:srgbClr val="2E8B4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65760" y="2569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86384" y="2532888"/>
            <a:ext cx="4700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AI/ML ecosystem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65760" y="3044952"/>
            <a:ext cx="310896" cy="310896"/>
          </a:xfrm>
          <a:prstGeom prst="ellipse">
            <a:avLst/>
          </a:prstGeom>
          <a:solidFill>
            <a:srgbClr val="2E8B4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65760" y="3044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94199" y="3008376"/>
            <a:ext cx="4700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standard computing hardware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65760" y="3520440"/>
            <a:ext cx="310896" cy="310896"/>
          </a:xfrm>
          <a:prstGeom prst="ellipse">
            <a:avLst/>
          </a:prstGeom>
          <a:solidFill>
            <a:srgbClr val="2E8B4E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6576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86384" y="3483864"/>
            <a:ext cx="4700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and scalable architecture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365760" y="41788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Flow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365760" y="4544568"/>
            <a:ext cx="896112" cy="384048"/>
          </a:xfrm>
          <a:prstGeom prst="roundRect">
            <a:avLst>
              <a:gd name="adj" fmla="val 21429"/>
            </a:avLst>
          </a:prstGeom>
          <a:solidFill>
            <a:srgbClr val="E07B33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65760" y="4544568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1271016" y="4599432"/>
            <a:ext cx="146304" cy="274320"/>
          </a:xfrm>
          <a:prstGeom prst="rightArrow">
            <a:avLst/>
          </a:prstGeom>
          <a:solidFill>
            <a:srgbClr val="55636D"/>
          </a:solidFill>
          <a:ln/>
        </p:spPr>
      </p:sp>
      <p:sp>
        <p:nvSpPr>
          <p:cNvPr id="28" name="Shape 25"/>
          <p:cNvSpPr/>
          <p:nvPr/>
        </p:nvSpPr>
        <p:spPr>
          <a:xfrm>
            <a:off x="1426464" y="4544568"/>
            <a:ext cx="896112" cy="384048"/>
          </a:xfrm>
          <a:prstGeom prst="roundRect">
            <a:avLst>
              <a:gd name="adj" fmla="val 21429"/>
            </a:avLst>
          </a:prstGeom>
          <a:solidFill>
            <a:srgbClr val="2E8B4E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426464" y="4544568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331720" y="4599432"/>
            <a:ext cx="146304" cy="274320"/>
          </a:xfrm>
          <a:prstGeom prst="rightArrow">
            <a:avLst/>
          </a:prstGeom>
          <a:solidFill>
            <a:srgbClr val="55636D"/>
          </a:solidFill>
          <a:ln/>
        </p:spPr>
      </p:sp>
      <p:sp>
        <p:nvSpPr>
          <p:cNvPr id="31" name="Shape 28"/>
          <p:cNvSpPr/>
          <p:nvPr/>
        </p:nvSpPr>
        <p:spPr>
          <a:xfrm>
            <a:off x="2487168" y="4544568"/>
            <a:ext cx="896112" cy="384048"/>
          </a:xfrm>
          <a:prstGeom prst="roundRect">
            <a:avLst>
              <a:gd name="adj" fmla="val 21429"/>
            </a:avLst>
          </a:prstGeom>
          <a:solidFill>
            <a:srgbClr val="E07B33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2487168" y="4544568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392424" y="4599432"/>
            <a:ext cx="146304" cy="274320"/>
          </a:xfrm>
          <a:prstGeom prst="rightArrow">
            <a:avLst/>
          </a:prstGeom>
          <a:solidFill>
            <a:srgbClr val="55636D"/>
          </a:solidFill>
          <a:ln/>
        </p:spPr>
      </p:sp>
      <p:sp>
        <p:nvSpPr>
          <p:cNvPr id="34" name="Shape 31"/>
          <p:cNvSpPr/>
          <p:nvPr/>
        </p:nvSpPr>
        <p:spPr>
          <a:xfrm>
            <a:off x="3547872" y="4544568"/>
            <a:ext cx="896112" cy="384048"/>
          </a:xfrm>
          <a:prstGeom prst="roundRect">
            <a:avLst>
              <a:gd name="adj" fmla="val 21429"/>
            </a:avLst>
          </a:prstGeom>
          <a:solidFill>
            <a:srgbClr val="2E8B4E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3547872" y="4544568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453128" y="4599432"/>
            <a:ext cx="146304" cy="274320"/>
          </a:xfrm>
          <a:prstGeom prst="rightArrow">
            <a:avLst/>
          </a:prstGeom>
          <a:solidFill>
            <a:srgbClr val="55636D"/>
          </a:solidFill>
          <a:ln/>
        </p:spPr>
      </p:sp>
      <p:sp>
        <p:nvSpPr>
          <p:cNvPr id="37" name="Shape 34"/>
          <p:cNvSpPr/>
          <p:nvPr/>
        </p:nvSpPr>
        <p:spPr>
          <a:xfrm>
            <a:off x="4608576" y="4544568"/>
            <a:ext cx="896112" cy="384048"/>
          </a:xfrm>
          <a:prstGeom prst="roundRect">
            <a:avLst>
              <a:gd name="adj" fmla="val 21429"/>
            </a:avLst>
          </a:prstGeom>
          <a:solidFill>
            <a:srgbClr val="E07B33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608576" y="4544568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5760720" y="12344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E07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&amp; Mitigation</a:t>
            </a:r>
            <a:endParaRPr lang="en-US" sz="15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618488"/>
          <a:ext cx="6035040" cy="32461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Challenge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</a:rPr>
                        <a:t>Large network traffic volume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636D"/>
                          </a:solidFill>
                        </a:rPr>
                        <a:t>Flow-based processing, time-window aggregation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</a:rPr>
                        <a:t>High false positives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636D"/>
                          </a:solidFill>
                        </a:rPr>
                        <a:t>Temporal context, adaptive risk thresholds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</a:rPr>
                        <a:t>Complex multi-stage attacks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636D"/>
                          </a:solidFill>
                        </a:rPr>
                        <a:t>Sequential, multi-step forecasting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</a:rPr>
                        <a:t>Black-box AI predictions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636D"/>
                          </a:solidFill>
                        </a:rPr>
                        <a:t>Gradient × Input attribution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</a:rPr>
                        <a:t>Deployment reproducibility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636D"/>
                          </a:solidFill>
                        </a:rPr>
                        <a:t>Docker containerisation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" name="Text 37"/>
          <p:cNvSpPr txBox="1"/>
          <p:nvPr/>
        </p:nvSpPr>
        <p:spPr>
          <a:xfrm>
            <a:off x="5760720" y="49834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Technically feasible as an SIH prototype, with strong potential for future deployment in SOC and enterprise environments.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143000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563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/>
              <a:t>BALLERS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8288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Workflow &amp;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500" dirty="0"/>
          </a:p>
        </p:txBody>
      </p:sp>
      <p:pic>
        <p:nvPicPr>
          <p:cNvPr id="5" name="Image 0" descr="/home/claude/assets/sih_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56032"/>
            <a:ext cx="2331720" cy="4663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 – SIH (Internal Hackathon)  |  2026 - Dayananda Sagar University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1207008"/>
            <a:ext cx="6903720" cy="352044"/>
          </a:xfrm>
          <a:prstGeom prst="roundRect">
            <a:avLst>
              <a:gd name="adj" fmla="val 12987"/>
            </a:avLst>
          </a:prstGeom>
          <a:solidFill>
            <a:srgbClr val="8A919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02920" y="1207008"/>
            <a:ext cx="66294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/ Security Logs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735324" y="1563624"/>
            <a:ext cx="164592" cy="64008"/>
          </a:xfrm>
          <a:prstGeom prst="downArrow">
            <a:avLst/>
          </a:prstGeom>
          <a:solidFill>
            <a:srgbClr val="55636D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" y="1632204"/>
            <a:ext cx="6903720" cy="352044"/>
          </a:xfrm>
          <a:prstGeom prst="roundRect">
            <a:avLst>
              <a:gd name="adj" fmla="val 12987"/>
            </a:avLst>
          </a:prstGeom>
          <a:solidFill>
            <a:srgbClr val="E07B3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920" y="1632204"/>
            <a:ext cx="66294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 —  Cleaning · Normalisation · Time Windows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735324" y="1988820"/>
            <a:ext cx="164592" cy="64008"/>
          </a:xfrm>
          <a:prstGeom prst="downArrow">
            <a:avLst/>
          </a:prstGeom>
          <a:solidFill>
            <a:srgbClr val="55636D"/>
          </a:solidFill>
          <a:ln/>
        </p:spPr>
      </p:sp>
      <p:sp>
        <p:nvSpPr>
          <p:cNvPr id="14" name="Shape 11"/>
          <p:cNvSpPr/>
          <p:nvPr/>
        </p:nvSpPr>
        <p:spPr>
          <a:xfrm>
            <a:off x="365760" y="2057400"/>
            <a:ext cx="6903720" cy="352044"/>
          </a:xfrm>
          <a:prstGeom prst="roundRect">
            <a:avLst>
              <a:gd name="adj" fmla="val 12987"/>
            </a:avLst>
          </a:prstGeom>
          <a:solidFill>
            <a:srgbClr val="D98F3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02920" y="2057400"/>
            <a:ext cx="66294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 —  Network Behaviour Features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735324" y="2414016"/>
            <a:ext cx="164592" cy="64008"/>
          </a:xfrm>
          <a:prstGeom prst="downArrow">
            <a:avLst/>
          </a:prstGeom>
          <a:solidFill>
            <a:srgbClr val="55636D"/>
          </a:solidFill>
          <a:ln/>
        </p:spPr>
      </p:sp>
      <p:sp>
        <p:nvSpPr>
          <p:cNvPr id="17" name="Shape 14"/>
          <p:cNvSpPr/>
          <p:nvPr/>
        </p:nvSpPr>
        <p:spPr>
          <a:xfrm>
            <a:off x="365760" y="2482596"/>
            <a:ext cx="6903720" cy="352044"/>
          </a:xfrm>
          <a:prstGeom prst="roundRect">
            <a:avLst>
              <a:gd name="adj" fmla="val 12987"/>
            </a:avLst>
          </a:prstGeom>
          <a:solidFill>
            <a:srgbClr val="C9A23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02920" y="2482596"/>
            <a:ext cx="66294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State Representation  —  Sequential States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735324" y="2839212"/>
            <a:ext cx="164592" cy="64008"/>
          </a:xfrm>
          <a:prstGeom prst="downArrow">
            <a:avLst/>
          </a:prstGeom>
          <a:solidFill>
            <a:srgbClr val="55636D"/>
          </a:solidFill>
          <a:ln/>
        </p:spPr>
      </p:sp>
      <p:sp>
        <p:nvSpPr>
          <p:cNvPr id="20" name="Shape 17"/>
          <p:cNvSpPr/>
          <p:nvPr/>
        </p:nvSpPr>
        <p:spPr>
          <a:xfrm>
            <a:off x="365760" y="2907792"/>
            <a:ext cx="6903720" cy="352044"/>
          </a:xfrm>
          <a:prstGeom prst="roundRect">
            <a:avLst>
              <a:gd name="adj" fmla="val 12987"/>
            </a:avLst>
          </a:prstGeom>
          <a:solidFill>
            <a:srgbClr val="2E8B4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02920" y="2907792"/>
            <a:ext cx="66294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Temporal Forecasting Engine  —  LSTM / Transformer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735324" y="3264408"/>
            <a:ext cx="164592" cy="64008"/>
          </a:xfrm>
          <a:prstGeom prst="downArrow">
            <a:avLst/>
          </a:prstGeom>
          <a:solidFill>
            <a:srgbClr val="55636D"/>
          </a:solidFill>
          <a:ln/>
        </p:spPr>
      </p:sp>
      <p:sp>
        <p:nvSpPr>
          <p:cNvPr id="23" name="Shape 20"/>
          <p:cNvSpPr/>
          <p:nvPr/>
        </p:nvSpPr>
        <p:spPr>
          <a:xfrm>
            <a:off x="365760" y="3332988"/>
            <a:ext cx="6903720" cy="352044"/>
          </a:xfrm>
          <a:prstGeom prst="roundRect">
            <a:avLst>
              <a:gd name="adj" fmla="val 12987"/>
            </a:avLst>
          </a:prstGeom>
          <a:solidFill>
            <a:srgbClr val="2C8F6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02920" y="3332988"/>
            <a:ext cx="66294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Attack Forecasting  —  What may happen next?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735324" y="3689604"/>
            <a:ext cx="164592" cy="64008"/>
          </a:xfrm>
          <a:prstGeom prst="downArrow">
            <a:avLst/>
          </a:prstGeom>
          <a:solidFill>
            <a:srgbClr val="55636D"/>
          </a:solidFill>
          <a:ln/>
        </p:spPr>
      </p:sp>
      <p:sp>
        <p:nvSpPr>
          <p:cNvPr id="26" name="Shape 23"/>
          <p:cNvSpPr/>
          <p:nvPr/>
        </p:nvSpPr>
        <p:spPr>
          <a:xfrm>
            <a:off x="365760" y="3758184"/>
            <a:ext cx="6903720" cy="352044"/>
          </a:xfrm>
          <a:prstGeom prst="roundRect">
            <a:avLst>
              <a:gd name="adj" fmla="val 12987"/>
            </a:avLst>
          </a:prstGeom>
          <a:solidFill>
            <a:srgbClr val="2C7A9E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02920" y="3758184"/>
            <a:ext cx="66294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Mapping  —  Predicted Attack Stage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735324" y="4114800"/>
            <a:ext cx="164592" cy="64008"/>
          </a:xfrm>
          <a:prstGeom prst="downArrow">
            <a:avLst/>
          </a:prstGeom>
          <a:solidFill>
            <a:srgbClr val="55636D"/>
          </a:solidFill>
          <a:ln/>
        </p:spPr>
      </p:sp>
      <p:sp>
        <p:nvSpPr>
          <p:cNvPr id="29" name="Shape 26"/>
          <p:cNvSpPr/>
          <p:nvPr/>
        </p:nvSpPr>
        <p:spPr>
          <a:xfrm>
            <a:off x="365760" y="4183380"/>
            <a:ext cx="6903720" cy="352044"/>
          </a:xfrm>
          <a:prstGeom prst="roundRect">
            <a:avLst>
              <a:gd name="adj" fmla="val 12987"/>
            </a:avLst>
          </a:prstGeom>
          <a:solidFill>
            <a:srgbClr val="2C5F9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02920" y="4183380"/>
            <a:ext cx="66294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 —  Why was this predicted?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735324" y="4539996"/>
            <a:ext cx="164592" cy="64008"/>
          </a:xfrm>
          <a:prstGeom prst="downArrow">
            <a:avLst/>
          </a:prstGeom>
          <a:solidFill>
            <a:srgbClr val="55636D"/>
          </a:solidFill>
          <a:ln/>
        </p:spPr>
      </p:sp>
      <p:sp>
        <p:nvSpPr>
          <p:cNvPr id="32" name="Shape 29"/>
          <p:cNvSpPr/>
          <p:nvPr/>
        </p:nvSpPr>
        <p:spPr>
          <a:xfrm>
            <a:off x="365760" y="4608576"/>
            <a:ext cx="6903720" cy="352044"/>
          </a:xfrm>
          <a:prstGeom prst="roundRect">
            <a:avLst>
              <a:gd name="adj" fmla="val 12987"/>
            </a:avLst>
          </a:prstGeom>
          <a:solidFill>
            <a:srgbClr val="1F2A33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02920" y="4608576"/>
            <a:ext cx="66294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Early Warning Dashboard  —  Risk · Forecast · Explanation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7543800" y="116128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7543800" y="1572768"/>
            <a:ext cx="4251960" cy="420624"/>
          </a:xfrm>
          <a:prstGeom prst="roundRect">
            <a:avLst>
              <a:gd name="adj" fmla="val 10870"/>
            </a:avLst>
          </a:prstGeom>
          <a:solidFill>
            <a:srgbClr val="F4F6F7"/>
          </a:solidFill>
          <a:ln w="6350">
            <a:solidFill>
              <a:srgbClr val="E2E5E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680960" y="157276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 </a:t>
            </a:r>
            <a:r>
              <a:rPr lang="en-US" sz="1100" dirty="0">
                <a:solidFill>
                  <a:srgbClr val="55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543800" y="2057400"/>
            <a:ext cx="4251960" cy="420624"/>
          </a:xfrm>
          <a:prstGeom prst="roundRect">
            <a:avLst>
              <a:gd name="adj" fmla="val 10870"/>
            </a:avLst>
          </a:prstGeom>
          <a:solidFill>
            <a:srgbClr val="F4F6F7"/>
          </a:solidFill>
          <a:ln w="6350">
            <a:solidFill>
              <a:srgbClr val="E2E5E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680960" y="205740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API:  </a:t>
            </a:r>
            <a:r>
              <a:rPr lang="en-US" sz="1100" dirty="0">
                <a:solidFill>
                  <a:srgbClr val="55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543800" y="2542032"/>
            <a:ext cx="4251960" cy="420624"/>
          </a:xfrm>
          <a:prstGeom prst="roundRect">
            <a:avLst>
              <a:gd name="adj" fmla="val 10870"/>
            </a:avLst>
          </a:prstGeom>
          <a:solidFill>
            <a:srgbClr val="F4F6F7"/>
          </a:solidFill>
          <a:ln w="6350">
            <a:solidFill>
              <a:srgbClr val="E2E5E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680960" y="2542032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AI/ML:  </a:t>
            </a:r>
            <a:r>
              <a:rPr lang="en-US" sz="1100" dirty="0">
                <a:solidFill>
                  <a:srgbClr val="55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Scikit-learn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543800" y="3026664"/>
            <a:ext cx="4251960" cy="420624"/>
          </a:xfrm>
          <a:prstGeom prst="roundRect">
            <a:avLst>
              <a:gd name="adj" fmla="val 10870"/>
            </a:avLst>
          </a:prstGeom>
          <a:solidFill>
            <a:srgbClr val="F4F6F7"/>
          </a:solidFill>
          <a:ln w="6350">
            <a:solidFill>
              <a:srgbClr val="E2E5E7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680960" y="3026664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Analysis:  </a:t>
            </a:r>
            <a:r>
              <a:rPr lang="en-US" sz="1100" dirty="0">
                <a:solidFill>
                  <a:srgbClr val="55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 / Zeek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543800" y="3511296"/>
            <a:ext cx="4251960" cy="420624"/>
          </a:xfrm>
          <a:prstGeom prst="roundRect">
            <a:avLst>
              <a:gd name="adj" fmla="val 10870"/>
            </a:avLst>
          </a:prstGeom>
          <a:solidFill>
            <a:srgbClr val="F4F6F7"/>
          </a:solidFill>
          <a:ln w="6350">
            <a:solidFill>
              <a:srgbClr val="E2E5E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680960" y="3511296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 </a:t>
            </a:r>
            <a:r>
              <a:rPr lang="en-US" sz="1100" dirty="0">
                <a:solidFill>
                  <a:srgbClr val="55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× Input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543800" y="3995928"/>
            <a:ext cx="4251960" cy="420624"/>
          </a:xfrm>
          <a:prstGeom prst="roundRect">
            <a:avLst>
              <a:gd name="adj" fmla="val 10870"/>
            </a:avLst>
          </a:prstGeom>
          <a:solidFill>
            <a:srgbClr val="F4F6F7"/>
          </a:solidFill>
          <a:ln w="6350">
            <a:solidFill>
              <a:srgbClr val="E2E5E7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680960" y="39959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 </a:t>
            </a:r>
            <a:r>
              <a:rPr lang="en-US" sz="1100" dirty="0">
                <a:solidFill>
                  <a:srgbClr val="55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7543800" y="4617720"/>
            <a:ext cx="4251960" cy="1005840"/>
          </a:xfrm>
          <a:prstGeom prst="roundRect">
            <a:avLst>
              <a:gd name="adj" fmla="val 5455"/>
            </a:avLst>
          </a:prstGeom>
          <a:solidFill>
            <a:srgbClr val="1F2A33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7708392" y="4617720"/>
            <a:ext cx="3922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Uniqueness
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the evolution of an attack, rather than simply detecting an attack already in progress.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143000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563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/>
              <a:t>BALLERS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8288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Benefits</a:t>
            </a:r>
            <a:endParaRPr lang="en-US" sz="2500" dirty="0"/>
          </a:p>
        </p:txBody>
      </p:sp>
      <p:pic>
        <p:nvPicPr>
          <p:cNvPr id="5" name="Image 0" descr="/home/claude/assets/sih_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56032"/>
            <a:ext cx="2331720" cy="4663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 – SIH (Internal Hackathon)  |  2026 - Dayananda Sagar University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3675888" cy="1234440"/>
          </a:xfrm>
          <a:prstGeom prst="roundRect">
            <a:avLst>
              <a:gd name="adj" fmla="val 5185"/>
            </a:avLst>
          </a:prstGeom>
          <a:solidFill>
            <a:srgbClr val="E07B3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30352" y="1344168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Defence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530352" y="1737360"/>
            <a:ext cx="3346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before an attack reaches critical stages.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178808" y="1234440"/>
            <a:ext cx="3675888" cy="1234440"/>
          </a:xfrm>
          <a:prstGeom prst="roundRect">
            <a:avLst>
              <a:gd name="adj" fmla="val 5185"/>
            </a:avLst>
          </a:prstGeom>
          <a:solidFill>
            <a:srgbClr val="2E8B4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343400" y="1344168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Incident Response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4343400" y="1737360"/>
            <a:ext cx="3346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security teams prioritise threats likely to escalate.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7991856" y="1234440"/>
            <a:ext cx="3675888" cy="1234440"/>
          </a:xfrm>
          <a:prstGeom prst="roundRect">
            <a:avLst>
              <a:gd name="adj" fmla="val 5185"/>
            </a:avLst>
          </a:prstGeom>
          <a:solidFill>
            <a:srgbClr val="2C7A9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156448" y="1344168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Alert Fatigue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8156448" y="1737360"/>
            <a:ext cx="3346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analyst attention on high-risk attack trajectories.</a:t>
            </a:r>
            <a:endParaRPr lang="en-US" sz="1080" dirty="0"/>
          </a:p>
        </p:txBody>
      </p:sp>
      <p:sp>
        <p:nvSpPr>
          <p:cNvPr id="17" name="Text 14"/>
          <p:cNvSpPr txBox="1"/>
          <p:nvPr/>
        </p:nvSpPr>
        <p:spPr>
          <a:xfrm>
            <a:off x="365760" y="2743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Applications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65760" y="3127248"/>
            <a:ext cx="2606040" cy="347472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6350">
            <a:solidFill>
              <a:srgbClr val="D8DCD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65760" y="31272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 Centres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108960" y="3127248"/>
            <a:ext cx="2606040" cy="347472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6350">
            <a:solidFill>
              <a:srgbClr val="D8DCD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108960" y="31272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Networks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65760" y="3566160"/>
            <a:ext cx="2606040" cy="347472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6350">
            <a:solidFill>
              <a:srgbClr val="D8DCD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65760" y="35661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Infrastructure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108960" y="3566160"/>
            <a:ext cx="2606040" cy="347472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6350">
            <a:solidFill>
              <a:srgbClr val="D8DCD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108960" y="35661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Infrastructure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65760" y="4005072"/>
            <a:ext cx="2606040" cy="347472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6350">
            <a:solidFill>
              <a:srgbClr val="D8DCD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65760" y="40050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Environments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108960" y="4005072"/>
            <a:ext cx="2606040" cy="347472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6350">
            <a:solidFill>
              <a:srgbClr val="D8DCD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108960" y="40050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Defence Networks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6172200" y="274320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Inspiration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172200" y="3127248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modelling for cyber event forecasting</a:t>
            </a:r>
            <a:endParaRPr lang="en-US" sz="1080" dirty="0"/>
          </a:p>
        </p:txBody>
      </p:sp>
      <p:sp>
        <p:nvSpPr>
          <p:cNvPr id="32" name="Text 29"/>
          <p:cNvSpPr txBox="1"/>
          <p:nvPr/>
        </p:nvSpPr>
        <p:spPr>
          <a:xfrm>
            <a:off x="6172200" y="3433572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&amp; Transformer-based sequence forecasting</a:t>
            </a:r>
            <a:endParaRPr lang="en-US" sz="1080" dirty="0"/>
          </a:p>
        </p:txBody>
      </p:sp>
      <p:sp>
        <p:nvSpPr>
          <p:cNvPr id="33" name="Text 30"/>
          <p:cNvSpPr txBox="1"/>
          <p:nvPr/>
        </p:nvSpPr>
        <p:spPr>
          <a:xfrm>
            <a:off x="6172200" y="3739896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Attack-chain prediction techniques</a:t>
            </a:r>
            <a:endParaRPr lang="en-US" sz="1080" dirty="0"/>
          </a:p>
        </p:txBody>
      </p:sp>
      <p:sp>
        <p:nvSpPr>
          <p:cNvPr id="34" name="Text 31"/>
          <p:cNvSpPr txBox="1"/>
          <p:nvPr/>
        </p:nvSpPr>
        <p:spPr>
          <a:xfrm>
            <a:off x="6172200" y="404622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ATT&amp;CK-based threat modelling</a:t>
            </a:r>
            <a:endParaRPr lang="en-US" sz="1080" dirty="0"/>
          </a:p>
        </p:txBody>
      </p:sp>
      <p:sp>
        <p:nvSpPr>
          <p:cNvPr id="35" name="Text 32"/>
          <p:cNvSpPr txBox="1"/>
          <p:nvPr/>
        </p:nvSpPr>
        <p:spPr>
          <a:xfrm>
            <a:off x="6172200" y="4352544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Graph Neural Networks for network security</a:t>
            </a:r>
            <a:endParaRPr lang="en-US" sz="1080" dirty="0"/>
          </a:p>
        </p:txBody>
      </p:sp>
      <p:sp>
        <p:nvSpPr>
          <p:cNvPr id="36" name="Shape 33"/>
          <p:cNvSpPr/>
          <p:nvPr/>
        </p:nvSpPr>
        <p:spPr>
          <a:xfrm>
            <a:off x="365760" y="5623560"/>
            <a:ext cx="11430000" cy="685800"/>
          </a:xfrm>
          <a:prstGeom prst="roundRect">
            <a:avLst>
              <a:gd name="adj" fmla="val 8000"/>
            </a:avLst>
          </a:prstGeom>
          <a:solidFill>
            <a:srgbClr val="1F2A3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365760" y="562356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“Don’t just detect the attack. Predict what happens next.”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                                                                  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4208" y="1243786"/>
            <a:ext cx="5515992" cy="2185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Inspiration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dirty="0"/>
              <a:t>Temporal modelling for cyber-event forecasting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dirty="0"/>
              <a:t>LSTM &amp; Transformer sequence forecasting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dirty="0"/>
              <a:t>Attack-chain prediction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dirty="0"/>
              <a:t>MITRE ATT&amp;CK threat modelling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dirty="0"/>
              <a:t>Temporal Graph Neural Networks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Idea Submission – SIH (Internal Hackathon) 2026 - Dayananda Sagar University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1025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BALLERS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1D9B49-BD1F-8E60-B5CD-716230551566}"/>
              </a:ext>
            </a:extLst>
          </p:cNvPr>
          <p:cNvSpPr txBox="1"/>
          <p:nvPr/>
        </p:nvSpPr>
        <p:spPr>
          <a:xfrm>
            <a:off x="3284460" y="394303"/>
            <a:ext cx="5623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3BEACE-B2C2-825D-CCA7-F2929428DB70}"/>
              </a:ext>
            </a:extLst>
          </p:cNvPr>
          <p:cNvSpPr txBox="1"/>
          <p:nvPr/>
        </p:nvSpPr>
        <p:spPr>
          <a:xfrm>
            <a:off x="777722" y="3006306"/>
            <a:ext cx="703256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Selected References</a:t>
            </a:r>
          </a:p>
          <a:p>
            <a:r>
              <a:rPr lang="en-IN" b="1" dirty="0"/>
              <a:t>1.</a:t>
            </a:r>
            <a:r>
              <a:rPr lang="en-IN" dirty="0"/>
              <a:t> Temporal Graph Neural Networks for Network Alert Prediction — 2026</a:t>
            </a:r>
            <a:br>
              <a:rPr lang="en-IN" dirty="0"/>
            </a:br>
            <a:r>
              <a:rPr lang="en-IN" b="1" dirty="0"/>
              <a:t>2.</a:t>
            </a:r>
            <a:r>
              <a:rPr lang="en-IN" dirty="0"/>
              <a:t> CL-AP²: Composite Learning for Cyber Attack Prediction — 2024</a:t>
            </a:r>
            <a:br>
              <a:rPr lang="en-IN" dirty="0"/>
            </a:br>
            <a:r>
              <a:rPr lang="en-IN" b="1" dirty="0"/>
              <a:t>3.</a:t>
            </a:r>
            <a:r>
              <a:rPr lang="en-IN" dirty="0"/>
              <a:t> </a:t>
            </a:r>
            <a:r>
              <a:rPr lang="en-IN" dirty="0" err="1"/>
              <a:t>KillChainGraph</a:t>
            </a:r>
            <a:r>
              <a:rPr lang="en-IN" dirty="0"/>
              <a:t>: Predicting MITRE ATT&amp;CK Techniques — 2025</a:t>
            </a:r>
            <a:br>
              <a:rPr lang="en-IN" dirty="0"/>
            </a:br>
            <a:r>
              <a:rPr lang="en-IN" b="1" dirty="0"/>
              <a:t>4.</a:t>
            </a:r>
            <a:r>
              <a:rPr lang="en-IN" dirty="0"/>
              <a:t> Rapid Forecasting of Cyber Events using ML — 2024</a:t>
            </a:r>
            <a:br>
              <a:rPr lang="en-IN" dirty="0"/>
            </a:br>
            <a:r>
              <a:rPr lang="en-IN" b="1" dirty="0"/>
              <a:t>5.</a:t>
            </a:r>
            <a:r>
              <a:rPr lang="en-IN" dirty="0"/>
              <a:t> Hybrid LSTM–Markov Attack Chain Prediction — 2026</a:t>
            </a:r>
            <a:br>
              <a:rPr lang="en-IN" dirty="0"/>
            </a:br>
            <a:r>
              <a:rPr lang="en-IN" b="1" dirty="0"/>
              <a:t>6.</a:t>
            </a:r>
            <a:r>
              <a:rPr lang="en-IN" dirty="0"/>
              <a:t> MITRE ATT&amp;CK® Framework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3493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850</Words>
  <Application>Microsoft Office PowerPoint</Application>
  <PresentationFormat>Widescreen</PresentationFormat>
  <Paragraphs>176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Cambria</vt:lpstr>
      <vt:lpstr>Times New Roman</vt:lpstr>
      <vt:lpstr>TradeGothic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                                      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prakruthi j</cp:lastModifiedBy>
  <cp:revision>4</cp:revision>
  <dcterms:created xsi:type="dcterms:W3CDTF">2026-08-31T12:49:24Z</dcterms:created>
  <dcterms:modified xsi:type="dcterms:W3CDTF">2026-09-04T20:08:00Z</dcterms:modified>
</cp:coreProperties>
</file>